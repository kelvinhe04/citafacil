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CitaFácil, un sistema de reservas web existente al que le agregamos cinco historias de usuario trabajando con IA de escritorio (Claude Code). Lo que se evalúa es el proceso: cómo usamos la IA, cómo validamos, qué corregimos y qué rechazamos.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en cifras. Las 62 pruebas son las 6 originales del proyecto más las que escribió cada historia. El repositorio conserva el historial y el crédito del autor original porque la licencia MIT lo exige.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pedirle cambios a la IA analizamos el repositorio, como pide el enunciado. Esos hallazgos condicionaron el diseño: por ejemplo, sin migraciones no podíamos agregar una columna, así que HU-04 usa un token firmado.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primeras son las obligatorias del enunciado. Las dos últimas las propusimos: cancelar o reprogramar desde un enlace, y exportar las reservas a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5 historias y 3 personas la rotación no queda perfectamente pareja: Einer desarrolla una historia menos. Todo está documentado en AGENTS.md del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 de la demo: calendario con días disponibles, ocupados y cerrados; reserva en un clic con los datos guardados; el enlace Gestionar mi cita para reprogramar y cancelar; y en el panel de administración la previsión y el botón Exportar CSV. Para la demo: cd backend, python seed.py --historico, python -m uvicorn app.main:app; y en otra terminal cd frontend, python -m http.server 5500; abrir index.html con ?api=http://localhost:8000. Token del panel admin: el ADMIN_TOKEN configurado (demo-token en la demo). El celular debe ser chileno, por ejemplo 9 4291 6570.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registramos cada prompt, solo lo que afectó el desarrollo. El AI Log del repositorio (docs/AI_LOG.md) tiene fecha, persona, historia, herramienta, qué se pidió, el resultado y la decisión humana de cada interacción.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ejemplos reales del AI Log. Lo importante no es que la IA se equivoque, sino que cada error se detectó con una prueba, una verificación de sintaxis o una captura, y quedó registrado.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decisiones nuestras, no de la IA: la IA las propuso o las discutimos y las confirmamos en la revisión. Todas están en la sección 4 del AI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honestidad: no todo salió perfecto. Las limitaciones están en el Word de evidencias. Estamos listos para recibir peticiones de cambio y hacerlas con la IA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CitaFácil · Proyecto 1 · Grupo 1GS242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TI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CitaFácil · Proyecto 1 · Grupo 1GS242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elvinhe04/citafacil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1371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CitaFácil con IA</a:t>
            </a:r>
            <a:endParaRPr lang="en-US" sz="5400" dirty="0"/>
          </a:p>
        </p:txBody>
      </p:sp>
      <p:sp>
        <p:nvSpPr>
          <p:cNvPr id="3" name="Subtítulo"/>
          <p:cNvSpPr txBox="1"/>
          <p:nvPr/>
        </p:nvSpPr>
        <p:spPr>
          <a:xfrm>
            <a:off x="640080" y="24688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Proyecto 1 · Desarrollo asistido por IA con herramientas de escritorio</a:t>
            </a:r>
            <a:endParaRPr lang="en-US" sz="2200" dirty="0"/>
          </a:p>
        </p:txBody>
      </p:sp>
      <p:sp>
        <p:nvSpPr>
          <p:cNvPr id="4" name="Equipo"/>
          <p:cNvSpPr txBox="1"/>
          <p:nvPr/>
        </p:nvSpPr>
        <p:spPr>
          <a:xfrm>
            <a:off x="640080" y="4023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Kelvin He · Roy Barrera · Einer Mosquera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Grupo 1GS242 · Tópicos Especiales II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Prof. Regis Rivera · 28/10/2026</a:t>
            </a:r>
            <a:endParaRPr lang="en-US" sz="1600" dirty="0"/>
          </a:p>
        </p:txBody>
      </p:sp>
      <p:pic>
        <p:nvPicPr>
          <p:cNvPr id="5" name="Captura de la app" descr="D:\utp\4 año - 2 semestre\TÓPICOS ESPECIALES II\8. Proyectos\Prj1- Desarrollo asistido por IA con herramientas de escritorio\citafacil\docs\evidencias\HU-02_calend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417320"/>
            <a:ext cx="4572000" cy="361164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Qué entregamos</a:t>
            </a:r>
            <a:endParaRPr lang="en-US" sz="3400" dirty="0"/>
          </a:p>
        </p:txBody>
      </p:sp>
      <p:sp>
        <p:nvSpPr>
          <p:cNvPr id="3" name="Tarjeta 1"/>
          <p:cNvSpPr/>
          <p:nvPr/>
        </p:nvSpPr>
        <p:spPr>
          <a:xfrm>
            <a:off x="548640" y="146304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fra 1"/>
          <p:cNvSpPr txBox="1"/>
          <p:nvPr/>
        </p:nvSpPr>
        <p:spPr>
          <a:xfrm>
            <a:off x="731520" y="1645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5</a:t>
            </a:r>
            <a:endParaRPr lang="en-US" sz="6600" dirty="0"/>
          </a:p>
        </p:txBody>
      </p:sp>
      <p:sp>
        <p:nvSpPr>
          <p:cNvPr id="5" name="Etiqueta 1"/>
          <p:cNvSpPr txBox="1"/>
          <p:nvPr/>
        </p:nvSpPr>
        <p:spPr>
          <a:xfrm>
            <a:off x="73152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historias de usuario</a:t>
            </a:r>
            <a:endParaRPr lang="en-US" sz="1600" dirty="0"/>
          </a:p>
        </p:txBody>
      </p:sp>
      <p:sp>
        <p:nvSpPr>
          <p:cNvPr id="6" name="Tarjeta 2"/>
          <p:cNvSpPr/>
          <p:nvPr/>
        </p:nvSpPr>
        <p:spPr>
          <a:xfrm>
            <a:off x="3337560" y="146304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ifra 2"/>
          <p:cNvSpPr txBox="1"/>
          <p:nvPr/>
        </p:nvSpPr>
        <p:spPr>
          <a:xfrm>
            <a:off x="3520440" y="1645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10</a:t>
            </a:r>
            <a:endParaRPr lang="en-US" sz="6600" dirty="0"/>
          </a:p>
        </p:txBody>
      </p:sp>
      <p:sp>
        <p:nvSpPr>
          <p:cNvPr id="8" name="Etiqueta 2"/>
          <p:cNvSpPr txBox="1"/>
          <p:nvPr/>
        </p:nvSpPr>
        <p:spPr>
          <a:xfrm>
            <a:off x="352044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Pull Requests fusionados</a:t>
            </a:r>
            <a:endParaRPr lang="en-US" sz="1600" dirty="0"/>
          </a:p>
        </p:txBody>
      </p:sp>
      <p:sp>
        <p:nvSpPr>
          <p:cNvPr id="9" name="Tarjeta 3"/>
          <p:cNvSpPr/>
          <p:nvPr/>
        </p:nvSpPr>
        <p:spPr>
          <a:xfrm>
            <a:off x="6126480" y="146304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fra 3"/>
          <p:cNvSpPr txBox="1"/>
          <p:nvPr/>
        </p:nvSpPr>
        <p:spPr>
          <a:xfrm>
            <a:off x="6309360" y="1645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62</a:t>
            </a:r>
            <a:endParaRPr lang="en-US" sz="6600" dirty="0"/>
          </a:p>
        </p:txBody>
      </p:sp>
      <p:sp>
        <p:nvSpPr>
          <p:cNvPr id="11" name="Etiqueta 3"/>
          <p:cNvSpPr txBox="1"/>
          <p:nvPr/>
        </p:nvSpPr>
        <p:spPr>
          <a:xfrm>
            <a:off x="630936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pruebas automáticas</a:t>
            </a:r>
            <a:endParaRPr lang="en-US" sz="1600" dirty="0"/>
          </a:p>
        </p:txBody>
      </p:sp>
      <p:sp>
        <p:nvSpPr>
          <p:cNvPr id="12" name="Tarjeta 4"/>
          <p:cNvSpPr/>
          <p:nvPr/>
        </p:nvSpPr>
        <p:spPr>
          <a:xfrm>
            <a:off x="8915400" y="146304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ifra 4"/>
          <p:cNvSpPr txBox="1"/>
          <p:nvPr/>
        </p:nvSpPr>
        <p:spPr>
          <a:xfrm>
            <a:off x="9098280" y="1645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3</a:t>
            </a:r>
            <a:endParaRPr lang="en-US" sz="6600" dirty="0"/>
          </a:p>
        </p:txBody>
      </p:sp>
      <p:sp>
        <p:nvSpPr>
          <p:cNvPr id="14" name="Etiqueta 4"/>
          <p:cNvSpPr txBox="1"/>
          <p:nvPr/>
        </p:nvSpPr>
        <p:spPr>
          <a:xfrm>
            <a:off x="909828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roles que rotan: Dev, Reviewer y QA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Todo en el repositorio del grupo</a:t>
            </a:r>
            <a:endParaRPr lang="en-US" sz="1600" dirty="0"/>
          </a:p>
        </p:txBody>
      </p:sp>
      <p:sp>
        <p:nvSpPr>
          <p:cNvPr id="16" name="Text 14">
            <a:hlinkClick r:id="rId1" tooltip=""/>
          </p:cNvPr>
          <p:cNvSpPr txBox="1"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github.com/kelvinhe04/citafacil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Base: gianca675/citafacil (licencia MIT), clonado y subido a un repositorio propio con su historial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Analizamos el proyecto antes de pedirle código a la IA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CitaFácil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FastAPI + SQLAlchemy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SQLite local · PostgreSQL en producción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HTML5, CSS3 y JavaScript sin framework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pytest: 6 pruebas de línea base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¿Por qué lo elegimos? Es liviano, ya traía pruebas y un motor de disponibilidad de horarios.</a:t>
            </a:r>
            <a:endParaRPr lang="en-US" sz="1400" dirty="0"/>
          </a:p>
        </p:txBody>
      </p:sp>
      <p:sp>
        <p:nvSpPr>
          <p:cNvPr id="6" name="Icono No hay pagos ni cuentas fondo"/>
          <p:cNvSpPr/>
          <p:nvPr/>
        </p:nvSpPr>
        <p:spPr>
          <a:xfrm>
            <a:off x="4480560" y="14173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o No hay pagos ni cuenta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0755" y="16075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40680" y="1417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hay pagos ni cuentas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1801368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HU-01 se adaptó: «datos guardados» = nombre y celular</a:t>
            </a:r>
            <a:endParaRPr lang="en-US" sz="1400" dirty="0"/>
          </a:p>
        </p:txBody>
      </p:sp>
      <p:sp>
        <p:nvSpPr>
          <p:cNvPr id="10" name="Icono No hay migraciones fondo"/>
          <p:cNvSpPr/>
          <p:nvPr/>
        </p:nvSpPr>
        <p:spPr>
          <a:xfrm>
            <a:off x="4480560" y="26060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o No hay migracione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755" y="27962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2606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hay migraciones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440680" y="2990088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Una columna nueva rompería la base desplegada: HU-04 usa un token firmado</a:t>
            </a:r>
            <a:endParaRPr lang="en-US" sz="1400" dirty="0"/>
          </a:p>
        </p:txBody>
      </p:sp>
      <p:sp>
        <p:nvSpPr>
          <p:cNvPr id="14" name="Icono El histórico estaba vacío fondo"/>
          <p:cNvSpPr/>
          <p:nvPr/>
        </p:nvSpPr>
        <p:spPr>
          <a:xfrm>
            <a:off x="4480560" y="37947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o El histórico estaba vací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755" y="398495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40680" y="37947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 histórico estaba vacío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440680" y="4178808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La app no deja reservar en el pasado: agregamos seed.py --historico</a:t>
            </a:r>
            <a:endParaRPr lang="en-US" sz="1400" dirty="0"/>
          </a:p>
        </p:txBody>
      </p:sp>
      <p:sp>
        <p:nvSpPr>
          <p:cNvPr id="18" name="Icono La API de producción del autor estaba caída fondo"/>
          <p:cNvSpPr/>
          <p:nvPr/>
        </p:nvSpPr>
        <p:spPr>
          <a:xfrm>
            <a:off x="4480560" y="49834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Icono La API de producción del autor estaba caíd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755" y="5173675"/>
            <a:ext cx="351130" cy="35113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40680" y="4983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API de producción del autor estaba caída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5440680" y="5367528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Probamos todo en local con ?api=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Cinco historias de usuario</a:t>
            </a:r>
            <a:endParaRPr lang="en-US" sz="3400" dirty="0"/>
          </a:p>
        </p:txBody>
      </p:sp>
      <p:sp>
        <p:nvSpPr>
          <p:cNvPr id="3" name="Tarjeta HU-02"/>
          <p:cNvSpPr/>
          <p:nvPr/>
        </p:nvSpPr>
        <p:spPr>
          <a:xfrm>
            <a:off x="548640" y="1417320"/>
            <a:ext cx="2103120" cy="39319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o HU-02 fondo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 HU-0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17903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HU-02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34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Calendario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20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Días disponibles y ocupados de un vistazo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892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Dev: Roy</a:t>
            </a:r>
            <a:endParaRPr lang="en-US" sz="1400" dirty="0"/>
          </a:p>
        </p:txBody>
      </p:sp>
      <p:sp>
        <p:nvSpPr>
          <p:cNvPr id="10" name="Tarjeta HU-01"/>
          <p:cNvSpPr/>
          <p:nvPr/>
        </p:nvSpPr>
        <p:spPr>
          <a:xfrm>
            <a:off x="2788920" y="1417320"/>
            <a:ext cx="2103120" cy="39319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o HU-01 fondo"/>
          <p:cNvSpPr/>
          <p:nvPr/>
        </p:nvSpPr>
        <p:spPr>
          <a:xfrm>
            <a:off x="297180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o HU-0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995" y="179039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7180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HU-01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971800" y="2834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Reserva rápida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2971800" y="3520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Reservar en un clic con tus datos guardados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971800" y="4892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Dev: Kelvin</a:t>
            </a:r>
            <a:endParaRPr lang="en-US" sz="1400" dirty="0"/>
          </a:p>
        </p:txBody>
      </p:sp>
      <p:sp>
        <p:nvSpPr>
          <p:cNvPr id="17" name="Tarjeta HU-04"/>
          <p:cNvSpPr/>
          <p:nvPr/>
        </p:nvSpPr>
        <p:spPr>
          <a:xfrm>
            <a:off x="5029200" y="1417320"/>
            <a:ext cx="2103120" cy="39319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Icono HU-04 fondo"/>
          <p:cNvSpPr/>
          <p:nvPr/>
        </p:nvSpPr>
        <p:spPr>
          <a:xfrm>
            <a:off x="521208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o HU-0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275" y="179039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1208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HU-04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212080" y="2834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Gestionar cita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3520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Cancelar o reprogramar desde un enlace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212080" y="4892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Dev: Kelvin</a:t>
            </a:r>
            <a:endParaRPr lang="en-US" sz="1400" dirty="0"/>
          </a:p>
        </p:txBody>
      </p:sp>
      <p:sp>
        <p:nvSpPr>
          <p:cNvPr id="24" name="Tarjeta HU-03"/>
          <p:cNvSpPr/>
          <p:nvPr/>
        </p:nvSpPr>
        <p:spPr>
          <a:xfrm>
            <a:off x="7269480" y="1417320"/>
            <a:ext cx="2103120" cy="39319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Icono HU-03 fondo"/>
          <p:cNvSpPr/>
          <p:nvPr/>
        </p:nvSpPr>
        <p:spPr>
          <a:xfrm>
            <a:off x="745236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o HU-0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555" y="1790395"/>
            <a:ext cx="351130" cy="35113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5236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HU-03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7452360" y="2834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Previsión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7452360" y="3520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Gráficos de demanda para el administrador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7452360" y="4892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Dev: Einer</a:t>
            </a:r>
            <a:endParaRPr lang="en-US" sz="1400" dirty="0"/>
          </a:p>
        </p:txBody>
      </p:sp>
      <p:sp>
        <p:nvSpPr>
          <p:cNvPr id="31" name="Tarjeta HU-05"/>
          <p:cNvSpPr/>
          <p:nvPr/>
        </p:nvSpPr>
        <p:spPr>
          <a:xfrm>
            <a:off x="9509760" y="1417320"/>
            <a:ext cx="2103120" cy="39319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Icono HU-05 fondo"/>
          <p:cNvSpPr/>
          <p:nvPr/>
        </p:nvSpPr>
        <p:spPr>
          <a:xfrm>
            <a:off x="9692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cono HU-0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2835" y="1790395"/>
            <a:ext cx="351130" cy="35113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69264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HU-05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692640" y="2834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Exportar CSV</a:t>
            </a:r>
            <a:endParaRPr lang="en-US" sz="2000" dirty="0"/>
          </a:p>
        </p:txBody>
      </p:sp>
      <p:sp>
        <p:nvSpPr>
          <p:cNvPr id="36" name="Text 29"/>
          <p:cNvSpPr txBox="1"/>
          <p:nvPr/>
        </p:nvSpPr>
        <p:spPr>
          <a:xfrm>
            <a:off x="9692640" y="3520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Reservas a una hoja de cálculo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9692640" y="4892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Dev: Roy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HU-01, HU-02 y HU-03 vienen del enunciado; HU-04 y HU-05 las elegimos nosotros.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Cómo trabajamos: un flujo de equipo real</a:t>
            </a:r>
            <a:endParaRPr lang="en-US" sz="3400" dirty="0"/>
          </a:p>
        </p:txBody>
      </p:sp>
      <p:sp>
        <p:nvSpPr>
          <p:cNvPr id="3" name="Paso 1"/>
          <p:cNvSpPr/>
          <p:nvPr/>
        </p:nvSpPr>
        <p:spPr>
          <a:xfrm>
            <a:off x="548640" y="141732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1732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Issue</a:t>
            </a:r>
            <a:endParaRPr lang="en-US" sz="1400" dirty="0"/>
          </a:p>
        </p:txBody>
      </p:sp>
      <p:sp>
        <p:nvSpPr>
          <p:cNvPr id="5" name="Paso 2"/>
          <p:cNvSpPr/>
          <p:nvPr/>
        </p:nvSpPr>
        <p:spPr>
          <a:xfrm>
            <a:off x="2423160" y="141732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96312" y="141732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Rama</a:t>
            </a:r>
            <a:endParaRPr lang="en-US" sz="1400" dirty="0"/>
          </a:p>
        </p:txBody>
      </p:sp>
      <p:sp>
        <p:nvSpPr>
          <p:cNvPr id="7" name="Paso 3"/>
          <p:cNvSpPr/>
          <p:nvPr/>
        </p:nvSpPr>
        <p:spPr>
          <a:xfrm>
            <a:off x="4297680" y="141732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0832" y="141732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IA con análisis previo</a:t>
            </a:r>
            <a:endParaRPr lang="en-US" sz="1400" dirty="0"/>
          </a:p>
        </p:txBody>
      </p:sp>
      <p:sp>
        <p:nvSpPr>
          <p:cNvPr id="9" name="Paso 4"/>
          <p:cNvSpPr/>
          <p:nvPr/>
        </p:nvSpPr>
        <p:spPr>
          <a:xfrm>
            <a:off x="6172200" y="141732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45352" y="141732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Pruebas</a:t>
            </a:r>
            <a:endParaRPr lang="en-US" sz="1400" dirty="0"/>
          </a:p>
        </p:txBody>
      </p:sp>
      <p:sp>
        <p:nvSpPr>
          <p:cNvPr id="11" name="Paso 5"/>
          <p:cNvSpPr/>
          <p:nvPr/>
        </p:nvSpPr>
        <p:spPr>
          <a:xfrm>
            <a:off x="8046720" y="141732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19872" y="141732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Pull Request</a:t>
            </a:r>
            <a:endParaRPr lang="en-US" sz="1400" dirty="0"/>
          </a:p>
        </p:txBody>
      </p:sp>
      <p:sp>
        <p:nvSpPr>
          <p:cNvPr id="13" name="Paso 6"/>
          <p:cNvSpPr/>
          <p:nvPr/>
        </p:nvSpPr>
        <p:spPr>
          <a:xfrm>
            <a:off x="9921240" y="141732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94392" y="141732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Revisión + QA</a:t>
            </a:r>
            <a:endParaRPr lang="en-US" sz="1400" dirty="0"/>
          </a:p>
        </p:txBody>
      </p:sp>
      <p:graphicFrame>
        <p:nvGraphicFramePr>
          <p:cNvPr id="6" name="Rotación de ro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6583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Historia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Developer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Reviewer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HU-01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Kelvin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Einer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HU-02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Einer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Kelvin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HU-03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Einer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Kelvin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HU-04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Kelvin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Einer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HU-05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Einer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Kelvin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7680960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Reglas del grupo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32004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Una historia = una rama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Commits con el formato «HU-0X: …»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Todo el código entra a main por Pull Request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roles rotan en cada historia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Demo en vivo: de la reserva al panel</a:t>
            </a:r>
            <a:endParaRPr lang="en-US" sz="3400" dirty="0"/>
          </a:p>
        </p:txBody>
      </p:sp>
      <p:pic>
        <p:nvPicPr>
          <p:cNvPr id="3" name="Captura 1" descr="D:\utp\4 año - 2 semestre\TÓPICOS ESPECIALES II\8. Proyectos\Prj1- Desarrollo asistido por IA con herramientas de escritorio\citafacil\docs\evidencias\HU-02_calend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588386" cy="28346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48640" y="4434840"/>
            <a:ext cx="35883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· Reservar con el calendario (HU-02) y reserva en un clic (HU-01)</a:t>
            </a:r>
            <a:endParaRPr lang="en-US" sz="1400" dirty="0"/>
          </a:p>
        </p:txBody>
      </p:sp>
      <p:pic>
        <p:nvPicPr>
          <p:cNvPr id="5" name="Captura 2" descr="D:\utp\4 año - 2 semestre\TÓPICOS ESPECIALES II\8. Proyectos\Prj1- Desarrollo asistido por IA con herramientas de escritorio\citafacil\docs\evidencias\HU-04_gestionar-ci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117" y="1371600"/>
            <a:ext cx="2884316" cy="28346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4676117" y="4434840"/>
            <a:ext cx="28843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· Gestionar la cita desde el enlace (HU-04)</a:t>
            </a:r>
            <a:endParaRPr lang="en-US" sz="1400" dirty="0"/>
          </a:p>
        </p:txBody>
      </p:sp>
      <p:pic>
        <p:nvPicPr>
          <p:cNvPr id="7" name="Captura 3" descr="D:\utp\4 año - 2 semestre\TÓPICOS ESPECIALES II\8. Proyectos\Prj1- Desarrollo asistido por IA con herramientas de escritorio\citafacil\docs\evidencias\HU-03_QA_previs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523" y="1371600"/>
            <a:ext cx="3513357" cy="28346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8099523" y="4434840"/>
            <a:ext cx="351335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· Panel admin: previsión (HU-03) y exportar CSV (HU-05)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python seed.py --historico  ·  uvicorn app.main:app  ·  http.server 5500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Cómo usamos la IA</a:t>
            </a:r>
            <a:endParaRPr lang="en-US" sz="3400" dirty="0"/>
          </a:p>
        </p:txBody>
      </p:sp>
      <p:sp>
        <p:nvSpPr>
          <p:cNvPr id="3" name="Icono Analizar fondo"/>
          <p:cNvSpPr/>
          <p:nvPr/>
        </p:nvSpPr>
        <p:spPr>
          <a:xfrm>
            <a:off x="548640" y="13716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o Analiz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573682"/>
            <a:ext cx="373075" cy="3730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3716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Analizar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77393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Leer el código y pedir un plan antes de editar</a:t>
            </a:r>
            <a:endParaRPr lang="en-US" sz="1400" dirty="0"/>
          </a:p>
        </p:txBody>
      </p:sp>
      <p:sp>
        <p:nvSpPr>
          <p:cNvPr id="7" name="Icono Implementar fondo"/>
          <p:cNvSpPr/>
          <p:nvPr/>
        </p:nvSpPr>
        <p:spPr>
          <a:xfrm>
            <a:off x="548640" y="2542032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o Implemen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2744114"/>
            <a:ext cx="373075" cy="3730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5420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Implementar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29443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Cambios pequeños, una historia por vez</a:t>
            </a:r>
            <a:endParaRPr lang="en-US" sz="1400" dirty="0"/>
          </a:p>
        </p:txBody>
      </p:sp>
      <p:sp>
        <p:nvSpPr>
          <p:cNvPr id="11" name="Icono Probar fondo"/>
          <p:cNvSpPr/>
          <p:nvPr/>
        </p:nvSpPr>
        <p:spPr>
          <a:xfrm>
            <a:off x="548640" y="3712464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o Proba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3914546"/>
            <a:ext cx="373075" cy="3730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37124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Probar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554480" y="4114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pytest escrito junto con la funcionalidad</a:t>
            </a:r>
            <a:endParaRPr lang="en-US" sz="1400" dirty="0"/>
          </a:p>
        </p:txBody>
      </p:sp>
      <p:sp>
        <p:nvSpPr>
          <p:cNvPr id="15" name="Icono Verificar fondo"/>
          <p:cNvSpPr/>
          <p:nvPr/>
        </p:nvSpPr>
        <p:spPr>
          <a:xfrm>
            <a:off x="548640" y="4882896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o Verifica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5084978"/>
            <a:ext cx="373075" cy="37307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48828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Verificar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554480" y="52852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Playwright en un navegador real, con capturas</a:t>
            </a:r>
            <a:endParaRPr lang="en-US" sz="1400" dirty="0"/>
          </a:p>
        </p:txBody>
      </p:sp>
      <p:sp>
        <p:nvSpPr>
          <p:cNvPr id="19" name="Cifra registros en el AI Log"/>
          <p:cNvSpPr/>
          <p:nvPr/>
        </p:nvSpPr>
        <p:spPr>
          <a:xfrm>
            <a:off x="6400800" y="137160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83680" y="1508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24</a:t>
            </a:r>
            <a:endParaRPr lang="en-US" sz="5400" dirty="0"/>
          </a:p>
        </p:txBody>
      </p:sp>
      <p:sp>
        <p:nvSpPr>
          <p:cNvPr id="21" name="Text 15"/>
          <p:cNvSpPr txBox="1"/>
          <p:nvPr/>
        </p:nvSpPr>
        <p:spPr>
          <a:xfrm>
            <a:off x="658368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registros en el AI Log</a:t>
            </a:r>
            <a:endParaRPr lang="en-US" sz="1400" dirty="0"/>
          </a:p>
        </p:txBody>
      </p:sp>
      <p:sp>
        <p:nvSpPr>
          <p:cNvPr id="22" name="Cifra respuestas incorrectas de la IA"/>
          <p:cNvSpPr/>
          <p:nvPr/>
        </p:nvSpPr>
        <p:spPr>
          <a:xfrm>
            <a:off x="9144000" y="137160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9326880" y="1508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</a:t>
            </a:r>
            <a:endParaRPr lang="en-US" sz="5400" dirty="0"/>
          </a:p>
        </p:txBody>
      </p:sp>
      <p:sp>
        <p:nvSpPr>
          <p:cNvPr id="24" name="Text 18"/>
          <p:cNvSpPr txBox="1"/>
          <p:nvPr/>
        </p:nvSpPr>
        <p:spPr>
          <a:xfrm>
            <a:off x="932688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respuestas incorrectas de la IA</a:t>
            </a:r>
            <a:endParaRPr lang="en-US" sz="1400" dirty="0"/>
          </a:p>
        </p:txBody>
      </p:sp>
      <p:sp>
        <p:nvSpPr>
          <p:cNvPr id="25" name="Cifra cambio rechazado"/>
          <p:cNvSpPr/>
          <p:nvPr/>
        </p:nvSpPr>
        <p:spPr>
          <a:xfrm>
            <a:off x="6400800" y="356616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583680" y="3703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</a:t>
            </a:r>
            <a:endParaRPr lang="en-US" sz="5400" dirty="0"/>
          </a:p>
        </p:txBody>
      </p:sp>
      <p:sp>
        <p:nvSpPr>
          <p:cNvPr id="27" name="Text 21"/>
          <p:cNvSpPr txBox="1"/>
          <p:nvPr/>
        </p:nvSpPr>
        <p:spPr>
          <a:xfrm>
            <a:off x="6583680" y="4663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cambio rechazado</a:t>
            </a:r>
            <a:endParaRPr lang="en-US" sz="1400" dirty="0"/>
          </a:p>
        </p:txBody>
      </p:sp>
      <p:sp>
        <p:nvSpPr>
          <p:cNvPr id="28" name="Cifra decisiones humanas"/>
          <p:cNvSpPr/>
          <p:nvPr/>
        </p:nvSpPr>
        <p:spPr>
          <a:xfrm>
            <a:off x="9144000" y="356616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9326880" y="3703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18</a:t>
            </a:r>
            <a:endParaRPr lang="en-US" sz="5400" dirty="0"/>
          </a:p>
        </p:txBody>
      </p:sp>
      <p:sp>
        <p:nvSpPr>
          <p:cNvPr id="30" name="Text 24"/>
          <p:cNvSpPr txBox="1"/>
          <p:nvPr/>
        </p:nvSpPr>
        <p:spPr>
          <a:xfrm>
            <a:off x="9326880" y="4663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decisiones humanas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Herramienta: Claude Code (Sonnet 5.5 y Opus 5.5) con Playwright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Cuando la IA se equivocó</a:t>
            </a:r>
            <a:endParaRPr lang="en-US" sz="3400" dirty="0"/>
          </a:p>
        </p:txBody>
      </p:sp>
      <p:sp>
        <p:nvSpPr>
          <p:cNvPr id="3" name="Caso 1"/>
          <p:cNvSpPr/>
          <p:nvPr/>
        </p:nvSpPr>
        <p:spPr>
          <a:xfrm>
            <a:off x="548640" y="137160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o caso 1 fondo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o cas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209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HU-04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31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Campo obligatorio mal definido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32004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Qué falló: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can_change era requerido, pero se rellena después de validar: toda petición fallaba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Cómo se detectó: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 pruebas fallaron en la primera ejecución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Arreglo: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Valor por defecto; suite en verde</a:t>
            </a:r>
            <a:endParaRPr lang="en-US" sz="1600" dirty="0"/>
          </a:p>
        </p:txBody>
      </p:sp>
      <p:sp>
        <p:nvSpPr>
          <p:cNvPr id="9" name="Caso 2"/>
          <p:cNvSpPr/>
          <p:nvPr/>
        </p:nvSpPr>
        <p:spPr>
          <a:xfrm>
            <a:off x="4297680" y="137160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o caso 2 fondo"/>
          <p:cNvSpPr/>
          <p:nvPr/>
        </p:nvSpPr>
        <p:spPr>
          <a:xfrm>
            <a:off x="4480560" y="1554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o cas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17209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HU-04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331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Script con saltos de línea mal escapados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480560" y="3063240"/>
            <a:ext cx="32004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Qué falló: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Los mensajes de WhatsApp quedaron con código roto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Cómo se detectó: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Verificación de sintaxis antes de ejecutar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Arreglo: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Se reescribieron los 3 mensajes</a:t>
            </a:r>
            <a:endParaRPr lang="en-US" sz="1600" dirty="0"/>
          </a:p>
        </p:txBody>
      </p:sp>
      <p:sp>
        <p:nvSpPr>
          <p:cNvPr id="15" name="Caso 3"/>
          <p:cNvSpPr/>
          <p:nvPr/>
        </p:nvSpPr>
        <p:spPr>
          <a:xfrm>
            <a:off x="8046720" y="137160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o caso 3 fondo"/>
          <p:cNvSpPr/>
          <p:nvPr/>
        </p:nvSpPr>
        <p:spPr>
          <a:xfrm>
            <a:off x="8229600" y="1554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cono cas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17209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0684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HU-02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2331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Título «Octubre De 2026»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0" y="3063240"/>
            <a:ext cx="32004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Qué falló: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text-transform: capitalize puso mayúscula a «de»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Cómo se detectó: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Captura de Playwright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Arreglo: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Capitalizar solo la primera letra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Decisiones humanas y lo que rechazamos</a:t>
            </a:r>
            <a:endParaRPr lang="en-US" sz="3400" dirty="0"/>
          </a:p>
        </p:txBody>
      </p:sp>
      <p:sp>
        <p:nvSpPr>
          <p:cNvPr id="3" name="Icono decisión 1 fondo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o decisió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54990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533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Token firmado en vez de una columna nueva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7373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hay migraciones; una columna rompería la base desplegada</a:t>
            </a:r>
            <a:endParaRPr lang="en-US" sz="1400" dirty="0"/>
          </a:p>
        </p:txBody>
      </p:sp>
      <p:sp>
        <p:nvSpPr>
          <p:cNvPr id="7" name="Icono decisión 2 fondo"/>
          <p:cNvSpPr/>
          <p:nvPr/>
        </p:nvSpPr>
        <p:spPr>
          <a:xfrm>
            <a:off x="548640" y="239572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o decisió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2574036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377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Datos guardados solo en el navegador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76148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 endpoint por celular filtraría datos personales</a:t>
            </a:r>
            <a:endParaRPr lang="en-US" sz="1400" dirty="0"/>
          </a:p>
        </p:txBody>
      </p:sp>
      <p:sp>
        <p:nvSpPr>
          <p:cNvPr id="11" name="Icono decisión 3 fondo"/>
          <p:cNvSpPr/>
          <p:nvPr/>
        </p:nvSpPr>
        <p:spPr>
          <a:xfrm>
            <a:off x="548640" y="3419856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o decisió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359816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015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Cancelar o reprogramar hasta 2 horas antes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8561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Evita huecos que ya no se pueden reasignar</a:t>
            </a:r>
            <a:endParaRPr lang="en-US" sz="1400" dirty="0"/>
          </a:p>
        </p:txBody>
      </p:sp>
      <p:sp>
        <p:nvSpPr>
          <p:cNvPr id="15" name="Icono decisión 4 fondo"/>
          <p:cNvSpPr/>
          <p:nvPr/>
        </p:nvSpPr>
        <p:spPr>
          <a:xfrm>
            <a:off x="548640" y="4443984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o decisió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" y="46222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4256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 CSV neutraliza las fórmulas con un apóstrofe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417320" y="480974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 nombre como =HYPERLINK(…) se ejecutaría en Excel</a:t>
            </a:r>
            <a:endParaRPr lang="en-US" sz="1400" dirty="0"/>
          </a:p>
        </p:txBody>
      </p:sp>
      <p:sp>
        <p:nvSpPr>
          <p:cNvPr id="19" name="Panel rechazo"/>
          <p:cNvSpPr/>
          <p:nvPr/>
        </p:nvSpPr>
        <p:spPr>
          <a:xfrm>
            <a:off x="7863840" y="1371600"/>
            <a:ext cx="374904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Icono rechazo fondo"/>
          <p:cNvSpPr/>
          <p:nvPr/>
        </p:nvSpPr>
        <p:spPr>
          <a:xfrm>
            <a:off x="8092440" y="16002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cono rechaz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861" y="176662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869680" y="1600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Lo que rechazamos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8092440" y="24231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La IA propuso tocar los mismos imports que HU-04 en availability.py y public.py.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8092440" y="3611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Roy lo rechazó: un merge de prueba daba conflicto. La alternativa dejó el merge limpio.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Lo que aprendimos y lo que falta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Lo que funcionó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 IA rinde más si primero analiza y propone un plan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Las pruebas atraparon los errores de la IA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Las revisiones cruzadas encontraron riesgos reales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Lo que mejoraríamos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10312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5 de 10 PR con revisión registrada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Parte de la revisión y el QA se hizo después del merge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Semanas parciales en el gráfico de previsión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Definir un MANAGE_SECRET propio en producción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Preguntas y cambios en vivo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Rama aparte, pytest antes de mostrar y git para revertir si algo falla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taFacil">
  <a:themeElements>
    <a:clrScheme name="CitaFacil">
      <a:dk1>
        <a:srgbClr val="0D1117"/>
      </a:dk1>
      <a:lt1>
        <a:srgbClr val="FFFFFF"/>
      </a:lt1>
      <a:dk2>
        <a:srgbClr val="1E293B"/>
      </a:dk2>
      <a:lt2>
        <a:srgbClr val="F1F5F9"/>
      </a:lt2>
      <a:accent1>
        <a:srgbClr val="3B82F6"/>
      </a:accent1>
      <a:accent2>
        <a:srgbClr val="22D3EE"/>
      </a:accent2>
      <a:accent3>
        <a:srgbClr val="F59E0B"/>
      </a:accent3>
      <a:accent4>
        <a:srgbClr val="22C55E"/>
      </a:accent4>
      <a:accent5>
        <a:srgbClr val="EF4444"/>
      </a:accent5>
      <a:accent6>
        <a:srgbClr val="64748B"/>
      </a:accent6>
      <a:hlink>
        <a:srgbClr val="3B82F6"/>
      </a:hlink>
      <a:folHlink>
        <a:srgbClr val="64748B"/>
      </a:folHlink>
    </a:clrScheme>
    <a:fontScheme name="CitaFaci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CitaFácil con IA - Proyecto 1</dc:title>
  <dc:subject>PptxGenJS Presentation</dc:subject>
  <dc:creator>Grupo 1GS242</dc:creator>
  <cp:lastModifiedBy>Grupo 1GS242</cp:lastModifiedBy>
  <cp:revision>1</cp:revision>
  <dcterms:created xsi:type="dcterms:W3CDTF">2026-10-30T17:08:30Z</dcterms:created>
  <dcterms:modified xsi:type="dcterms:W3CDTF">2026-10-30T17:08:30Z</dcterms:modified>
</cp:coreProperties>
</file>